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3A3C4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FF4B2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86384" cy="786384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5" name="Image 0" descr="/mnt/user-data/outputs/gym_pptx/icons/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890260"/>
            <a:ext cx="377464" cy="377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FINAL PROJECT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Management System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object-oriented application for running a gym: members, trainers,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memberships, payments and attendance — with a Tkinter GUI and JSON storage.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743200" cy="0"/>
          </a:xfrm>
          <a:prstGeom prst="line">
            <a:avLst/>
          </a:prstGeom>
          <a:noFill/>
          <a:ln w="12700">
            <a:solidFill>
              <a:srgbClr val="3A3C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Omar Ahmed Hamza Nomeir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Object-Oriented Programming  •  Tkinter  •  JSON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gym on paper doesn’t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3F3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6" name="Image 0" descr="/mnt/user-data/outputs/gym_pptx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2962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records scattered across notebooks and spreadsheets, hard to search or update.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0832" y="18745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3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45152" y="214884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0" name="Image 1" descr="/mnt/user-data/outputs/gym_pptx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53" y="22962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5152" y="2880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know who’s membership is active, expired, or about to run out.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47304" y="18745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3F3F4"/>
          </a:solidFill>
          <a:ln/>
        </p:spPr>
      </p:sp>
      <p:sp>
        <p:nvSpPr>
          <p:cNvPr id="13" name="Shape 9"/>
          <p:cNvSpPr/>
          <p:nvPr/>
        </p:nvSpPr>
        <p:spPr>
          <a:xfrm>
            <a:off x="8421624" y="214884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4" name="Image 2" descr="/mnt/user-data/outputs/gym_pptx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025" y="22962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21624" y="2880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attendance are tracked by hand — errors and missed renewals follow.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4251960"/>
            <a:ext cx="11018520" cy="1828800"/>
          </a:xfrm>
          <a:prstGeom prst="roundRect">
            <a:avLst>
              <a:gd name="adj" fmla="val 5000"/>
            </a:avLst>
          </a:prstGeom>
          <a:solidFill>
            <a:srgbClr val="17181C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455371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8" name="Image 3" descr="/mnt/user-data/outputs/gym_pptx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4701113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1600200" y="475488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small, complete desktop application that applies real OOP thinking — classes,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encapsulation, polymorphism, abstraction and composition — to a real business: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A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trainers, memberships, payments and attendance, with a working GUI and file storage.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structure, clean separation of concerns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658368" cy="65836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5" name="Image 0" descr="/mnt/user-data/outputs/gym_pptx/icons/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536" y="204569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gym.py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240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class: models, business rules, validation, and the FileManager that reads / writes JSON.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23544" y="2587752"/>
            <a:ext cx="0" cy="621792"/>
          </a:xfrm>
          <a:prstGeom prst="line">
            <a:avLst/>
          </a:prstGeom>
          <a:noFill/>
          <a:ln w="19050">
            <a:solidFill>
              <a:srgbClr val="E3E4E7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94360" y="3246120"/>
            <a:ext cx="658368" cy="65836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0" name="Image 1" descr="/mnt/user-data/outputs/gym_pptx/icons/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6" y="341729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6118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Tkinter GUI — six tabs wired to Gym’s methods. No business logic lives here.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23544" y="3959352"/>
            <a:ext cx="0" cy="621792"/>
          </a:xfrm>
          <a:prstGeom prst="line">
            <a:avLst/>
          </a:prstGeom>
          <a:noFill/>
          <a:ln w="19050">
            <a:solidFill>
              <a:srgbClr val="E3E4E7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94360" y="4617720"/>
            <a:ext cx="658368" cy="65836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5" name="Image 2" descr="/mnt/user-data/outputs/gym_pptx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478889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data/gym.json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9834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JSON file. Created on first run, loaded on start, saved after every change.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7181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6294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FLOW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629400" y="2514600"/>
            <a:ext cx="384048" cy="384048"/>
          </a:xfrm>
          <a:prstGeom prst="ellipse">
            <a:avLst/>
          </a:prstGeom>
          <a:solidFill>
            <a:srgbClr val="3A3C4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294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78040" y="2514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gym.json  →  build Gym object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21424" y="2898648"/>
            <a:ext cx="0" cy="256032"/>
          </a:xfrm>
          <a:prstGeom prst="line">
            <a:avLst/>
          </a:prstGeom>
          <a:noFill/>
          <a:ln w="19050">
            <a:solidFill>
              <a:srgbClr val="3A3C4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29400" y="3136392"/>
            <a:ext cx="384048" cy="384048"/>
          </a:xfrm>
          <a:prstGeom prst="ellipse">
            <a:avLst/>
          </a:prstGeom>
          <a:solidFill>
            <a:srgbClr val="3A3C4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2940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178040" y="31363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acts in the GUI (add, search, pay…)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821424" y="3520440"/>
            <a:ext cx="0" cy="256032"/>
          </a:xfrm>
          <a:prstGeom prst="line">
            <a:avLst/>
          </a:prstGeom>
          <a:noFill/>
          <a:ln w="19050">
            <a:solidFill>
              <a:srgbClr val="3A3C4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29400" y="3758184"/>
            <a:ext cx="384048" cy="384048"/>
          </a:xfrm>
          <a:prstGeom prst="ellipse">
            <a:avLst/>
          </a:prstGeom>
          <a:solidFill>
            <a:srgbClr val="3A3C4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62940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7178040" y="375818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calls a Gym method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821424" y="4142232"/>
            <a:ext cx="0" cy="256032"/>
          </a:xfrm>
          <a:prstGeom prst="line">
            <a:avLst/>
          </a:prstGeom>
          <a:noFill/>
          <a:ln w="19050">
            <a:solidFill>
              <a:srgbClr val="3A3C4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629400" y="4379976"/>
            <a:ext cx="384048" cy="384048"/>
          </a:xfrm>
          <a:prstGeom prst="ellipse">
            <a:avLst/>
          </a:prstGeom>
          <a:solidFill>
            <a:srgbClr val="FF4B26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62940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178040" y="43799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validates &amp; applies business rules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821424" y="4764024"/>
            <a:ext cx="0" cy="256032"/>
          </a:xfrm>
          <a:prstGeom prst="line">
            <a:avLst/>
          </a:prstGeom>
          <a:noFill/>
          <a:ln w="19050">
            <a:solidFill>
              <a:srgbClr val="3A3C4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629400" y="5001768"/>
            <a:ext cx="384048" cy="384048"/>
          </a:xfrm>
          <a:prstGeom prst="ellipse">
            <a:avLst/>
          </a:prstGeom>
          <a:solidFill>
            <a:srgbClr val="3A3C42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62940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7178040" y="50017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 saves the updated state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821424" y="5385816"/>
            <a:ext cx="0" cy="256032"/>
          </a:xfrm>
          <a:prstGeom prst="line">
            <a:avLst/>
          </a:prstGeom>
          <a:noFill/>
          <a:ln w="19050">
            <a:solidFill>
              <a:srgbClr val="3A3C4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629400" y="5623560"/>
            <a:ext cx="384048" cy="384048"/>
          </a:xfrm>
          <a:prstGeom prst="ellipse">
            <a:avLst/>
          </a:prstGeom>
          <a:solidFill>
            <a:srgbClr val="3A3C42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62940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7178040" y="56235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dashboard refresh instantly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launch to close,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54680" y="1371600"/>
            <a:ext cx="58978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3E4E7"/>
            </a:solidFill>
            <a:prstDash val="solid"/>
          </a:ln>
        </p:spPr>
      </p:sp>
      <p:pic>
        <p:nvPicPr>
          <p:cNvPr id="5" name="Image 0" descr="/mnt/user-data/outputs/gym_project2_v2/flowchart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481328"/>
            <a:ext cx="5623560" cy="4855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classes, one clear responsibility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03911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6" name="Image 0" descr="/mnt/user-data/outputs/gym_pptx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" y="2169871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35608" y="1975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35608" y="23134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 — id, name, phone, validation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0832" y="182880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3911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1" name="Image 1" descr="/mnt/user-data/outputs/gym_pptx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216987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975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212080" y="23134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date, assigned trainer, membership history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47304" y="182880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8472" y="203911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6" name="Image 2" descr="/mnt/user-data/outputs/gym_pptx/icons/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231" y="216987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88552" y="1975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988552" y="23134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assigned to one or more members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" y="333756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20" name="Shape 15"/>
          <p:cNvSpPr/>
          <p:nvPr/>
        </p:nvSpPr>
        <p:spPr>
          <a:xfrm>
            <a:off x="795528" y="354787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1" name="Image 3" descr="/mnt/user-data/outputs/gym_pptx/icons/id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" y="367863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35608" y="3483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435608" y="38221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start / end date, price, is_active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0832" y="333756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354787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6" name="Image 4" descr="/mnt/user-data/outputs/gym_pptx/icons/mon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367863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12080" y="3483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212080" y="38221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(validated &gt; 0), date, note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47304" y="333756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30" name="Shape 23"/>
          <p:cNvSpPr/>
          <p:nvPr/>
        </p:nvSpPr>
        <p:spPr>
          <a:xfrm>
            <a:off x="8348472" y="354787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31" name="Image 5" descr="/mnt/user-data/outputs/gym_pptx/icons/calendar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231" y="3678631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88552" y="34838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988552" y="38221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check-in record with date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94360" y="484632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35" name="Shape 27"/>
          <p:cNvSpPr/>
          <p:nvPr/>
        </p:nvSpPr>
        <p:spPr>
          <a:xfrm>
            <a:off x="795528" y="505663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36" name="Image 6" descr="/mnt/user-data/outputs/gym_pptx/icons/build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287" y="5187391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35608" y="4992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1435608" y="53309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class — owns everything, runs the rules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70832" y="484632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40" name="Shape 31"/>
          <p:cNvSpPr/>
          <p:nvPr/>
        </p:nvSpPr>
        <p:spPr>
          <a:xfrm>
            <a:off x="4572000" y="505663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41" name="Image 7" descr="/mnt/user-data/outputs/gym_pptx/icons/fileA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2759" y="5187391"/>
            <a:ext cx="241402" cy="2414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212080" y="4992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FileManager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5212080" y="53309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writes the JSON data file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47304" y="4846320"/>
            <a:ext cx="3611880" cy="1325880"/>
          </a:xfrm>
          <a:prstGeom prst="roundRect">
            <a:avLst>
              <a:gd name="adj" fmla="val 6207"/>
            </a:avLst>
          </a:prstGeom>
          <a:solidFill>
            <a:srgbClr val="F3F3F4"/>
          </a:solidFill>
          <a:ln/>
        </p:spPr>
      </p:sp>
      <p:sp>
        <p:nvSpPr>
          <p:cNvPr id="45" name="Shape 35"/>
          <p:cNvSpPr/>
          <p:nvPr/>
        </p:nvSpPr>
        <p:spPr>
          <a:xfrm>
            <a:off x="8348472" y="5056632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46" name="Image 8" descr="/mnt/user-data/outputs/gym_pptx/icons/exclama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9231" y="5187391"/>
            <a:ext cx="241402" cy="24140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988552" y="4992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GymError</a:t>
            </a:r>
            <a:endParaRPr lang="en-US" sz="1500" dirty="0"/>
          </a:p>
        </p:txBody>
      </p:sp>
      <p:sp>
        <p:nvSpPr>
          <p:cNvPr id="48" name="Text 37"/>
          <p:cNvSpPr txBox="1"/>
          <p:nvPr/>
        </p:nvSpPr>
        <p:spPr>
          <a:xfrm>
            <a:off x="8988552" y="53309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for validation &amp; rule errors</a:t>
            </a:r>
            <a:endParaRPr lang="en-US" sz="105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 OOP concept,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5" name="Shape 3"/>
          <p:cNvSpPr/>
          <p:nvPr/>
        </p:nvSpPr>
        <p:spPr>
          <a:xfrm>
            <a:off x="1613916" y="213055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6" name="Image 0" descr="/mnt/user-data/outputs/gym_pptx/icons/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317" y="227795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62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an ABC with an abstract label() method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10" name="Shape 7"/>
          <p:cNvSpPr/>
          <p:nvPr/>
        </p:nvSpPr>
        <p:spPr>
          <a:xfrm>
            <a:off x="4402836" y="213055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1" name="Image 1" descr="/mnt/user-data/outputs/gym_pptx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237" y="227795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862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and Trainer both extend Person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91756" y="213055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6" name="Image 2" descr="/mnt/user-data/outputs/gym_pptx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157" y="227795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862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label() renders differently per subclass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61120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0676" y="213055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1" name="Image 3" descr="/mnt/user-data/outputs/gym_pptx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077" y="22779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98280" y="2862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validated via @property setters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94360" y="40233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25" name="Shape 19"/>
          <p:cNvSpPr/>
          <p:nvPr/>
        </p:nvSpPr>
        <p:spPr>
          <a:xfrm>
            <a:off x="1613916" y="427939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6" name="Image 4" descr="/mnt/user-data/outputs/gym_pptx/icons/layerGro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1317" y="442679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5010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321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owns Members, Trainers, Memberships...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3280" y="40233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30" name="Shape 23"/>
          <p:cNvSpPr/>
          <p:nvPr/>
        </p:nvSpPr>
        <p:spPr>
          <a:xfrm>
            <a:off x="4402836" y="427939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31" name="Image 5" descr="/mnt/user-data/outputs/gym_pptx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237" y="442679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20440" y="5010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Hints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566160" y="5321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throughout gym.py and main.py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72200" y="40233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35" name="Shape 27"/>
          <p:cNvSpPr/>
          <p:nvPr/>
        </p:nvSpPr>
        <p:spPr>
          <a:xfrm>
            <a:off x="7191756" y="427939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36" name="Image 6" descr="/mnt/user-data/outputs/gym_pptx/icons/exclam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157" y="4426793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09360" y="5010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6355080" y="5321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GymError, raised &amp; caught at every edge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61120" y="40233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232428"/>
          </a:solidFill>
          <a:ln/>
        </p:spPr>
      </p:sp>
      <p:sp>
        <p:nvSpPr>
          <p:cNvPr id="40" name="Shape 31"/>
          <p:cNvSpPr/>
          <p:nvPr/>
        </p:nvSpPr>
        <p:spPr>
          <a:xfrm>
            <a:off x="9980676" y="4279392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41" name="Image 7" descr="/mnt/user-data/outputs/gym_pptx/icons/fileA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8077" y="4426793"/>
            <a:ext cx="272125" cy="27212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98280" y="5010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9144000" y="5321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 isolates all JSON I/O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enforced by Gym, not just CRUD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3F3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6" name="Image 0" descr="/mnt/user-data/outputs/gym_pptx/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attendance without an active membership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9202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can’t check in if their membership has expired, or they never had 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2944368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3F3F4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127248"/>
            <a:ext cx="594360" cy="59436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1" name="Image 1" descr="/mnt/user-data/outputs/gym_pptx/icons/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32817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03580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two active memberships at once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303580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membership while one is active is rejected — renew it instead.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" y="4059936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3F3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42816"/>
            <a:ext cx="594360" cy="59436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6" name="Image 2" descr="/mnt/user-data/outputs/gym_pptx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39735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513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must be greater than zero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415137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Payment.amount is validated the moment the object is created.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5175504"/>
            <a:ext cx="11018520" cy="960120"/>
          </a:xfrm>
          <a:prstGeom prst="roundRect">
            <a:avLst>
              <a:gd name="adj" fmla="val 7619"/>
            </a:avLst>
          </a:prstGeom>
          <a:solidFill>
            <a:srgbClr val="F3F3F4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358384"/>
            <a:ext cx="594360" cy="59436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1" name="Image 3" descr="/mnt/user-data/outputs/gym_pptx/icons/id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5512918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52669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member must exist first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217920" y="5266944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payments and memberships all check the member exists before acting.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589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classes connect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E3E4E7"/>
            </a:solidFill>
            <a:prstDash val="solid"/>
          </a:ln>
        </p:spPr>
      </p:sp>
      <p:pic>
        <p:nvPicPr>
          <p:cNvPr id="5" name="Image 0" descr="/mnt/user-data/outputs/gym_project2_v2/uml_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572768"/>
            <a:ext cx="10652760" cy="4672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— real numbers, not decoration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858000" cy="4617720"/>
          </a:xfrm>
          <a:prstGeom prst="roundRect">
            <a:avLst>
              <a:gd name="adj" fmla="val 1980"/>
            </a:avLst>
          </a:prstGeom>
          <a:solidFill>
            <a:srgbClr val="17181C"/>
          </a:solidFill>
          <a:ln/>
        </p:spPr>
      </p:sp>
      <p:pic>
        <p:nvPicPr>
          <p:cNvPr id="5" name="Image 0" descr="/mnt/user-data/outputs/gym_project2_v2/screenshots/1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965960"/>
            <a:ext cx="630936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78308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7" name="Image 1" descr="/mnt/user-data/outputs/gym_pptx/icons/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439" y="19138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66760" y="17556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live metrics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208483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 &amp; trainers, active / expired memberships, revenue, today’s check-ins.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726680" y="315468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1" name="Image 2" descr="/mnt/user-data/outputs/gym_pptx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39" y="328543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3667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Computed, not hard-coded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8366760" y="345643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is derived from Gym.dashboard() on the live data.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726680" y="452628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5" name="Image 3" descr="/mnt/user-data/outputs/gym_pptx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439" y="465703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66760" y="44988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current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8366760" y="482803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after every add, payment, renewal or check-in.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— CRUD, search and filtering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80560" y="1691640"/>
            <a:ext cx="7114032" cy="4617720"/>
          </a:xfrm>
          <a:prstGeom prst="roundRect">
            <a:avLst>
              <a:gd name="adj" fmla="val 1980"/>
            </a:avLst>
          </a:prstGeom>
          <a:solidFill>
            <a:srgbClr val="17181C"/>
          </a:solidFill>
          <a:ln/>
        </p:spPr>
      </p:sp>
      <p:pic>
        <p:nvPicPr>
          <p:cNvPr id="5" name="Image 0" descr="/mnt/user-data/outputs/gym_project2_v2/screenshots/2_memb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965960"/>
            <a:ext cx="6565392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8308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7" name="Image 1" descr="/mnt/user-data/outputs/gym_pptx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" y="19138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084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ID, name or phone — filters the table live.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4360" y="283464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1" name="Image 2" descr="/mnt/user-data/outputs/gym_pptx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296539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807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31363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Expired / No Membership status.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94360" y="388620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5" name="Image 3" descr="/mnt/user-data/outputs/gym_pptx/icons/userPl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" y="401695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update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1879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name and phone before saving.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94360" y="4937760"/>
            <a:ext cx="502920" cy="50292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9" name="Image 4" descr="/mnt/user-data/outputs/gym_pptx/icons/b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" y="5068519"/>
            <a:ext cx="241402" cy="2414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4910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delete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1234440" y="52395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Confirms, then removes the member’s full history.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scenarios, every one automated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32428"/>
          </a:solidFill>
          <a:ln/>
        </p:spPr>
      </p:sp>
      <p:sp>
        <p:nvSpPr>
          <p:cNvPr id="5" name="Shape 3"/>
          <p:cNvSpPr/>
          <p:nvPr/>
        </p:nvSpPr>
        <p:spPr>
          <a:xfrm>
            <a:off x="1613916" y="201168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6" name="Image 0" descr="/mnt/user-data/outputs/gym_pptx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317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32428"/>
          </a:solidFill>
          <a:ln/>
        </p:spPr>
      </p:sp>
      <p:sp>
        <p:nvSpPr>
          <p:cNvPr id="10" name="Shape 7"/>
          <p:cNvSpPr/>
          <p:nvPr/>
        </p:nvSpPr>
        <p:spPr>
          <a:xfrm>
            <a:off x="4402836" y="201168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1" name="Image 1" descr="/mnt/user-data/outputs/gym_pptx/icons/excla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237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3242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91756" y="201168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16" name="Image 2" descr="/mnt/user-data/outputs/gym_pptx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157" y="21590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611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32428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0676" y="2011680"/>
            <a:ext cx="566928" cy="566928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1" name="Image 3" descr="/mnt/user-data/outputs/gym_pptx/icons/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077" y="21590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94360" y="3977640"/>
            <a:ext cx="11018520" cy="2103120"/>
          </a:xfrm>
          <a:prstGeom prst="roundRect">
            <a:avLst>
              <a:gd name="adj" fmla="val 4348"/>
            </a:avLst>
          </a:prstGeom>
          <a:solidFill>
            <a:srgbClr val="232428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26" name="Image 4" descr="/mnt/user-data/outputs/gym_pptx/icons/clipboard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pytest cases — all passing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46177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tests/test_gym.py automates the 10 required scenarios plus 2 extra checks (unknown member,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round-trip). Documented list also kept in tests/test_scenarios.txt for manual walk-through.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60020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3A3C4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786384" cy="786384"/>
          </a:xfrm>
          <a:prstGeom prst="ellipse">
            <a:avLst/>
          </a:prstGeom>
          <a:solidFill>
            <a:srgbClr val="FF4B26"/>
          </a:solidFill>
          <a:ln/>
        </p:spPr>
      </p:sp>
      <p:pic>
        <p:nvPicPr>
          <p:cNvPr id="4" name="Image 0" descr="/mnt/user-data/outputs/gym_pptx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1027420"/>
            <a:ext cx="377464" cy="377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Gym Management System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demonstrate: object creation &amp; constructors, encapsulation, inheritance and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through Member / Trainer, abstraction via Person, composition inside Gym,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loading &amp; saving, at least three business rules, and graceful error handling.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2743200" cy="0"/>
          </a:xfrm>
          <a:prstGeom prst="line">
            <a:avLst/>
          </a:prstGeom>
          <a:noFill/>
          <a:ln w="12700">
            <a:solidFill>
              <a:srgbClr val="3A3C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892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Omar Ahmed Hamza Nomeir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OOP Final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2026-10-03T18:58:41Z</dcterms:created>
  <dcterms:modified xsi:type="dcterms:W3CDTF">2026-10-03T18:58:41Z</dcterms:modified>
</cp:coreProperties>
</file>